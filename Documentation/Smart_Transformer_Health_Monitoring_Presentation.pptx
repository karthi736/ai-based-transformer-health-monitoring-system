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557530"/>
            <a:ext cx="1033272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AI-Based Predictive Transformer Health Monitoring</a:t>
            </a:r>
            <a:endParaRPr lang="en-US" sz="30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and Preventive Protection System Using Arduino UNO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91840" y="2294890"/>
            <a:ext cx="557784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660650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FD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Student Name : 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KARTHIKEYAN 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058160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FD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Register Number : 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723723105010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50590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FD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Department : 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Electrical and Electronics Engineering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834130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FD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Institution : 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V.S.B College of Engineering Technical Campus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262120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FD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University : 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Anna University, Chennai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716780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FD4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Academic Year : 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2025 – 2026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Transformers are key components in a power system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They operate continuously under electrical and thermal stress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Most low-cost protection systems react only after a fault occurs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This project monitors temperature and load together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Arduino UNO is used to calculate a transformer health score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Gives early warning before the transformer actually fails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Conventional systems use a single fixed temperature threshold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Load condition is not considered along with temperature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early warning is given before a critical failure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health tracking or fault history is maintained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Need for a low-cost, predictive protection system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Monitor transformer temperature using a DHT22 sensor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Monitor transformer load using a potentiometer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Calculate a combined health score for the transformer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Classify risk level as LOW, MEDIUM, HIGH or CRITICAL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Estimate failure probability and remaining life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Activate cooling and protection automatically when needed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Existing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Thermal cut-off systems trip at one fixed temperature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Oil level and pressure-based protection used in large transformers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SCADA-based monitoring used in big substations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IoT hobby projects mostly use simple threshold logic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altLang="en-US" sz="2100" dirty="0"/>
              <a:t>No predictive health analysis is available in most existing systems.</a:t>
            </a:r>
            <a:endParaRPr lang="en-US" alt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Proposed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Combines temperature and load readings together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Calculates a single, combined health score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Classifies transformer risk into four levels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Predicts failure probability and remaining life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Automatically activates cooling and relay protection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altLang="en-US" sz="2100" dirty="0"/>
              <a:t>Provides predictive monitoring and preventive protection.</a:t>
            </a:r>
            <a:endParaRPr lang="en-US" alt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Hardware Components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52120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Arduino UNO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Main controller of the system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52120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DHT22 Sensor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Measures transformer temperature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3474720"/>
            <a:ext cx="52120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Potentiometer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Simulates transformer load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52120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16×2 I2C LCD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Displays health and status data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309360" y="155448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Servo Motor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Represents the cooling fan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309360" y="251460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Relay Module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Disconnects supply when critical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309360" y="347472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LED and Buzzer — </a:t>
            </a: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Provide visual and sound alert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Software Requirements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Arduino IDE — used to write and upload the program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Embedded C — programming language used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Wokwi Simulator — used to build and test the circuit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Libraries used: DHT, LiquidCrystal_I2C, Servo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Block Diagram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46120" y="1417320"/>
            <a:ext cx="566928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pic>
        <p:nvPicPr>
          <p:cNvPr id="4" name="Image 0" descr="/home/claude/assets/Block_Diagram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429000" y="1554480"/>
            <a:ext cx="530352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46120" y="608076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Fig 4.1 : Block Diagram of the Proposed System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Circuit Diagram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40080" y="608076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Fig 5.1 : Circuit Diagram (redrawn from simulation circuit)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818120" y="1554480"/>
            <a:ext cx="3794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Pin Configuration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/>
        </p:nvGraphicFramePr>
        <p:xfrm>
          <a:off x="7818120" y="2011680"/>
          <a:ext cx="3794760" cy="3072384"/>
        </p:xfrm>
        <a:graphic>
          <a:graphicData uri="http://schemas.openxmlformats.org/drawingml/2006/table">
            <a:tbl>
              <a:tblPr/>
              <a:tblGrid>
                <a:gridCol w="2331720"/>
                <a:gridCol w="146304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Component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Pin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DHT22 Data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D2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Potentiometer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A0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LCD SDA / SCL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A4 / A5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Servo Signal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D10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Relay Control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D11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LED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D8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Buzzer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D9</a:t>
                      </a:r>
                      <a:endParaRPr lang="en-US" sz="13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200" dirty="0"/>
          </a:p>
        </p:txBody>
      </p:sp>
      <p:pic>
        <p:nvPicPr>
          <p:cNvPr id="31" name="Picture 30" descr="Circuit_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0800"/>
            <a:ext cx="6549390" cy="42170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Working Principle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Sensors are read every one second by the Arduino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Health score is calculated from temperature and load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level is classified based on the health score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Cooling fan (servo) is activated above 45°C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Relay disconnects supply when condition is CRITICAL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LCD dashboard refreshes every three seconds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Flowchart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94760" y="1280160"/>
            <a:ext cx="457200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pic>
        <p:nvPicPr>
          <p:cNvPr id="4" name="Image 0" descr="/home/claude/assets/Flowchart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931920" y="1417320"/>
            <a:ext cx="4297680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94760" y="64008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Fig 4.2 : Flowchart of System Operation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Health Score Calculation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Base health score starts at 100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Penalty applied when temperature is above 40°C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Penalty applied when load is above 75%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Health Score = 100 − Temperature Penalty − Load Penalty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Failure Probability = 100 − Health Score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Remaining Life = (Health Score ÷ 100) × 15 years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Classification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1737360" y="1737360"/>
          <a:ext cx="8686800" cy="3429000"/>
        </p:xfrm>
        <a:graphic>
          <a:graphicData uri="http://schemas.openxmlformats.org/drawingml/2006/table">
            <a:tbl>
              <a:tblPr/>
              <a:tblGrid>
                <a:gridCol w="4343400"/>
                <a:gridCol w="4343400"/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Risk Level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Health Score Range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LOW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80 and above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MEDIUM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50 to 79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25 to 49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CRITICAL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3A3A3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Below 25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737360" y="55778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Higher risk level indicates greater chance of transformer failure.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Simulation 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361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LCD Normal — Test Case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847088"/>
            <a:ext cx="4937760" cy="1435608"/>
          </a:xfrm>
          <a:prstGeom prst="rect">
            <a:avLst/>
          </a:prstGeom>
          <a:solidFill>
            <a:srgbClr val="1B3A1B"/>
          </a:solidFill>
          <a:ln w="25400">
            <a:solidFill>
              <a:srgbClr val="0C1F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3852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Health: 100%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871216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Risk: LOW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5361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LCD Status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1847088"/>
            <a:ext cx="4937760" cy="1435608"/>
          </a:xfrm>
          <a:prstGeom prst="rect">
            <a:avLst/>
          </a:prstGeom>
          <a:solidFill>
            <a:srgbClr val="1B3A1B"/>
          </a:solidFill>
          <a:ln w="25400">
            <a:solidFill>
              <a:srgbClr val="0C1F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93852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Temp: 27.3 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2871216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Load: 39.3%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77647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LCD Prediction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4087368"/>
            <a:ext cx="4937760" cy="1435608"/>
          </a:xfrm>
          <a:prstGeom prst="rect">
            <a:avLst/>
          </a:prstGeom>
          <a:solidFill>
            <a:srgbClr val="1B3A1B"/>
          </a:solidFill>
          <a:ln w="25400">
            <a:solidFill>
              <a:srgbClr val="0C1F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17880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Rem.Life: 15.0Yr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5111496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Failure: 0%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70332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77647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LCD Critical — Test Case 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4087368"/>
            <a:ext cx="4937760" cy="1435608"/>
          </a:xfrm>
          <a:prstGeom prst="rect">
            <a:avLst/>
          </a:prstGeom>
          <a:solidFill>
            <a:srgbClr val="1B3A1B"/>
          </a:solidFill>
          <a:ln w="25400">
            <a:solidFill>
              <a:srgbClr val="0C1F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17880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Health: 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5111496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F57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Risk: CRITICAL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Tested under four conditions — cooling, relay and alert response verified.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Advantages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Combines temperature and load for better accuracy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Graded risk levels instead of a single alarm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Early warning through failure probability estimate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Automatic cooling and protective action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Low-cost and simple to build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Maintains a fault history for maintenance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 and medium distribution substations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Industrial transformers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Educational laboratories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Rural and remote installations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Future Scope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 an actual current sensor for real load measurement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ESP32 for IoT-based remote monitoring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Cloud-based data logging of health trends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 application for real-time alerts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Machine learning based failure prediction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4E7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System was successfully designed and simulated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Health score based prediction was achieved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four risk levels were tested successfully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Cooling and protection worked as expected</a:t>
            </a:r>
            <a:endParaRPr lang="en-US" sz="2100" dirty="0"/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Provides a base for future development</a:t>
            </a:r>
            <a:endParaRPr lang="en-US" sz="2100" dirty="0">
              <a:solidFill>
                <a:srgbClr val="3A3A3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304800" indent="-304800">
              <a:spcAft>
                <a:spcPts val="2000"/>
              </a:spcAft>
              <a:buSzPct val="100000"/>
              <a:buChar char="•"/>
            </a:pPr>
            <a:r>
              <a:rPr lang="en-US" altLang="en-US" sz="21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Suitable for educational demonstrations and low-cost transformer monitoring applications.</a:t>
            </a:r>
            <a:endParaRPr lang="en-US" altLang="en-US" sz="2100" dirty="0">
              <a:solidFill>
                <a:srgbClr val="3A3A3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6078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300101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000" dirty="0"/>
              <a:t>Presented by</a:t>
            </a:r>
            <a:endParaRPr lang="en-US" altLang="en-US" sz="2000" dirty="0"/>
          </a:p>
          <a:p>
            <a:pPr marL="0" indent="0" algn="ctr">
              <a:buNone/>
            </a:pPr>
            <a:endParaRPr lang="en-US" altLang="en-US" sz="2000" dirty="0"/>
          </a:p>
          <a:p>
            <a:pPr marL="0" indent="0" algn="ctr">
              <a:buNone/>
            </a:pPr>
            <a:r>
              <a:rPr lang="en-US" altLang="en-US" sz="2000" dirty="0"/>
              <a:t>Karthikeyan M</a:t>
            </a:r>
            <a:endParaRPr lang="en-US" altLang="en-US" sz="2000" dirty="0"/>
          </a:p>
          <a:p>
            <a:pPr marL="0" indent="0" algn="ctr">
              <a:buNone/>
            </a:pPr>
            <a:endParaRPr lang="en-US" altLang="en-US" sz="2000" dirty="0"/>
          </a:p>
          <a:p>
            <a:pPr marL="0" indent="0" algn="ctr">
              <a:buNone/>
            </a:pPr>
            <a:r>
              <a:rPr lang="en-US" altLang="en-US" sz="2000" dirty="0"/>
              <a:t>Register No: 723723105010</a:t>
            </a:r>
            <a:endParaRPr lang="en-US" alt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3A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4769</Words>
  <Application>WPS Presentation</Application>
  <PresentationFormat>On-screen Show (16:9)</PresentationFormat>
  <Paragraphs>278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2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Courier New</vt:lpstr>
      <vt:lpstr>Courier New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Karthi Keyan</cp:lastModifiedBy>
  <cp:revision>6</cp:revision>
  <dcterms:created xsi:type="dcterms:W3CDTF">2026-07-12T15:17:00Z</dcterms:created>
  <dcterms:modified xsi:type="dcterms:W3CDTF">2026-07-12T16:06:30Z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8A61ABD121F64054AA39B1742E0A2A8B_12</vt:lpwstr>
  </property>
  <property fmtid="{D5CDD505-2E9C-101B-9397-08002B2CF9AE}" pid="3" name="KSOProductBuildVer">
    <vt:lpwstr>1033-12.1.0.26880</vt:lpwstr>
  </property>
</Properties>
</file>